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42D50"/>
                </a:solidFill>
              </a:defRPr>
            </a:pPr>
            <a:r>
              <a:t>Problem and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606E"/>
                </a:solidFill>
              </a:defRPr>
            </a:pPr>
            <a:r>
              <a:t>Context-aware bass stem generation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5349240" cy="4297680"/>
          </a:xfrm>
          <a:prstGeom prst="roundRect">
            <a:avLst/>
          </a:prstGeom>
          <a:solidFill>
            <a:srgbClr val="EFF5FC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81912"/>
            <a:ext cx="4892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69B0"/>
                </a:solidFill>
              </a:defRPr>
            </a:pPr>
            <a:r>
              <a:t>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892040" cy="3584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Input: mixture without bass</a:t>
            </a:r>
          </a:p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Condition: target instrument = bass</a:t>
            </a:r>
          </a:p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Output: generated bass 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17320"/>
            <a:ext cx="5074920" cy="4297680"/>
          </a:xfrm>
          <a:prstGeom prst="roundRect">
            <a:avLst/>
          </a:prstGeom>
          <a:solidFill>
            <a:srgbClr val="EFF5FC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581912"/>
            <a:ext cx="4617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69B0"/>
                </a:solidFill>
              </a:defRPr>
            </a:pPr>
            <a:r>
              <a:t>Why this is hard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011680"/>
            <a:ext cx="4617720" cy="3584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Audio must sound plausible</a:t>
            </a:r>
          </a:p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Bass must match rhythm, harmony, and structure</a:t>
            </a:r>
          </a:p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Limited compute: small faithful reproduction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7D5A"/>
                </a:solidFill>
              </a:defRPr>
            </a:pPr>
            <a:r>
              <a:t>Research question: can a small audio-token masked model reproduce the core StemGen idea?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D50"/>
          </a:solidFill>
          <a:ln>
            <a:solidFill>
              <a:srgbClr val="142D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60196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FFFFFF"/>
                </a:solidFill>
              </a:defRPr>
            </a:pPr>
            <a:r>
              <a:t>StemGen reproduction | audio-token bass stem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FFFFFF"/>
                </a:solidFill>
              </a:defRPr>
            </a:pPr>
            <a:r>
              <a:t>1/4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42D50"/>
                </a:solidFill>
              </a:defRPr>
            </a:pPr>
            <a:r>
              <a:t>Scaled-Down StemGen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417320"/>
            <a:ext cx="2240280" cy="1234440"/>
          </a:xfrm>
          <a:prstGeom prst="roundRect">
            <a:avLst/>
          </a:prstGeom>
          <a:solidFill>
            <a:srgbClr val="EFF5FC"/>
          </a:solidFill>
          <a:ln>
            <a:solidFill>
              <a:srgbClr val="29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64208"/>
            <a:ext cx="19659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600">
                <a:solidFill>
                  <a:srgbClr val="142D50"/>
                </a:solidFill>
              </a:defRPr>
            </a:pPr>
            <a:r>
              <a:t>Context audio</a:t>
            </a:r>
          </a:p>
          <a:p>
            <a:pPr algn="ctr">
              <a:defRPr sz="1150">
                <a:solidFill>
                  <a:srgbClr val="55606E"/>
                </a:solidFill>
              </a:defRPr>
            </a:pPr>
            <a:r>
              <a:t>mixture - bass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62072" y="1755648"/>
            <a:ext cx="502920" cy="384048"/>
          </a:xfrm>
          <a:prstGeom prst="rightArrow">
            <a:avLst/>
          </a:prstGeom>
          <a:solidFill>
            <a:srgbClr val="2969B0"/>
          </a:solidFill>
          <a:ln>
            <a:solidFill>
              <a:srgbClr val="29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29000" y="1417320"/>
            <a:ext cx="2240280" cy="1234440"/>
          </a:xfrm>
          <a:prstGeom prst="roundRect">
            <a:avLst/>
          </a:prstGeom>
          <a:solidFill>
            <a:srgbClr val="EFF5FC"/>
          </a:solidFill>
          <a:ln>
            <a:solidFill>
              <a:srgbClr val="29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664208"/>
            <a:ext cx="19659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600">
                <a:solidFill>
                  <a:srgbClr val="142D50"/>
                </a:solidFill>
              </a:defRPr>
            </a:pPr>
            <a:r>
              <a:t>EnCodec tokens</a:t>
            </a:r>
          </a:p>
          <a:p>
            <a:pPr algn="ctr">
              <a:defRPr sz="1150">
                <a:solidFill>
                  <a:srgbClr val="55606E"/>
                </a:solidFill>
              </a:defRPr>
            </a:pPr>
            <a:r>
              <a:t>24 kHz, 2 RVQ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696712" y="1755648"/>
            <a:ext cx="502920" cy="384048"/>
          </a:xfrm>
          <a:prstGeom prst="rightArrow">
            <a:avLst/>
          </a:prstGeom>
          <a:solidFill>
            <a:srgbClr val="2969B0"/>
          </a:solidFill>
          <a:ln>
            <a:solidFill>
              <a:srgbClr val="29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2240280" cy="1234440"/>
          </a:xfrm>
          <a:prstGeom prst="roundRect">
            <a:avLst/>
          </a:prstGeom>
          <a:solidFill>
            <a:srgbClr val="EFF5FC"/>
          </a:solidFill>
          <a:ln>
            <a:solidFill>
              <a:srgbClr val="29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64208"/>
            <a:ext cx="19659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600">
                <a:solidFill>
                  <a:srgbClr val="142D50"/>
                </a:solidFill>
              </a:defRPr>
            </a:pPr>
            <a:r>
              <a:t>Masked Transformer</a:t>
            </a:r>
          </a:p>
          <a:p>
            <a:pPr algn="ctr">
              <a:defRPr sz="1150">
                <a:solidFill>
                  <a:srgbClr val="55606E"/>
                </a:solidFill>
              </a:defRPr>
            </a:pPr>
            <a:r>
              <a:t>predict target tokens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531352" y="1755648"/>
            <a:ext cx="502920" cy="384048"/>
          </a:xfrm>
          <a:prstGeom prst="rightArrow">
            <a:avLst/>
          </a:prstGeom>
          <a:solidFill>
            <a:srgbClr val="2969B0"/>
          </a:solidFill>
          <a:ln>
            <a:solidFill>
              <a:srgbClr val="29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098280" y="1417320"/>
            <a:ext cx="2240280" cy="1234440"/>
          </a:xfrm>
          <a:prstGeom prst="roundRect">
            <a:avLst/>
          </a:prstGeom>
          <a:solidFill>
            <a:srgbClr val="EFF5FC"/>
          </a:solidFill>
          <a:ln>
            <a:solidFill>
              <a:srgbClr val="29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1664208"/>
            <a:ext cx="19659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600">
                <a:solidFill>
                  <a:srgbClr val="142D50"/>
                </a:solidFill>
              </a:defRPr>
            </a:pPr>
            <a:r>
              <a:t>Decode audio</a:t>
            </a:r>
          </a:p>
          <a:p>
            <a:pPr algn="ctr">
              <a:defRPr sz="1150">
                <a:solidFill>
                  <a:srgbClr val="55606E"/>
                </a:solidFill>
              </a:defRPr>
            </a:pPr>
            <a:r>
              <a:t>iterative mask-predict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46120"/>
            <a:ext cx="5303520" cy="2331720"/>
          </a:xfrm>
          <a:prstGeom prst="roundRect">
            <a:avLst/>
          </a:prstGeom>
          <a:solidFill>
            <a:srgbClr val="EFF5FC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410712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69B0"/>
                </a:solidFill>
              </a:defRPr>
            </a:pPr>
            <a:r>
              <a:t>Training setup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840480"/>
            <a:ext cx="4846320" cy="16184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10-second clips; target = bass</a:t>
            </a:r>
          </a:p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Context = mixture minus bass</a:t>
            </a:r>
          </a:p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Mask ratio: 50% to 100%</a:t>
            </a:r>
          </a:p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Multi-codebook cross-entropy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3246120"/>
            <a:ext cx="5120640" cy="2331720"/>
          </a:xfrm>
          <a:prstGeom prst="roundRect">
            <a:avLst/>
          </a:prstGeom>
          <a:solidFill>
            <a:srgbClr val="EFF5FC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410712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69B0"/>
                </a:solidFill>
              </a:defRPr>
            </a:pPr>
            <a:r>
              <a:t>Engineering fixes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840480"/>
            <a:ext cx="4663440" cy="16184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Filter silent / weak-bass clips</a:t>
            </a:r>
          </a:p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Precompute token cache</a:t>
            </a:r>
          </a:p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Separate codec, partial-mask, full-mask diagnostics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D50"/>
          </a:solidFill>
          <a:ln>
            <a:solidFill>
              <a:srgbClr val="142D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60196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FFFFFF"/>
                </a:solidFill>
              </a:defRPr>
            </a:pPr>
            <a:r>
              <a:t>StemGen reproduction | audio-token bass stem generation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601968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FFFFFF"/>
                </a:solidFill>
              </a:defRPr>
            </a:pPr>
            <a:r>
              <a:t>2/4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42D50"/>
                </a:solidFill>
              </a:defRPr>
            </a:pPr>
            <a:r>
              <a:t>Latest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5606E"/>
                </a:solidFill>
              </a:defRPr>
            </a:pPr>
            <a:r>
              <a:t>1000-track stride10 run is the current strongest baseline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95554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1325880"/>
                <a:gridCol w="2514600"/>
                <a:gridCol w="1828800"/>
                <a:gridCol w="1645920"/>
              </a:tblGrid>
              <a:tr h="47244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>
                    <a:solidFill>
                      <a:srgbClr val="14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Clips</a:t>
                      </a:r>
                    </a:p>
                  </a:txBody>
                  <a:tcPr>
                    <a:solidFill>
                      <a:srgbClr val="14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Sampling</a:t>
                      </a:r>
                    </a:p>
                  </a:txBody>
                  <a:tcPr>
                    <a:solidFill>
                      <a:srgbClr val="14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Best Val Loss</a:t>
                      </a:r>
                    </a:p>
                  </a:txBody>
                  <a:tcPr>
                    <a:solidFill>
                      <a:srgbClr val="14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Best Val Acc</a:t>
                      </a:r>
                    </a:p>
                  </a:txBody>
                  <a:tcPr>
                    <a:solidFill>
                      <a:srgbClr val="142D50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2D"/>
                          </a:solidFill>
                        </a:defRPr>
                      </a:pPr>
                      <a:r>
                        <a:t>550 cached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2D"/>
                          </a:solidFill>
                        </a:defRPr>
                      </a:pPr>
                      <a:r>
                        <a:t>26,400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2D"/>
                          </a:solidFill>
                        </a:defRPr>
                      </a:pPr>
                      <a:r>
                        <a:t>sampled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2D"/>
                          </a:solidFill>
                        </a:defRPr>
                      </a:pPr>
                      <a:r>
                        <a:t>3.4507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2D"/>
                          </a:solidFill>
                        </a:defRPr>
                      </a:pPr>
                      <a:r>
                        <a:t>0.521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2D"/>
                          </a:solidFill>
                        </a:defRPr>
                      </a:pPr>
                      <a:r>
                        <a:t>1000 stride10</a:t>
                      </a:r>
                    </a:p>
                  </a:txBody>
                  <a:tcPr>
                    <a:solidFill>
                      <a:srgbClr val="EFF5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2D"/>
                          </a:solidFill>
                        </a:defRPr>
                      </a:pPr>
                      <a:r>
                        <a:t>22,928</a:t>
                      </a:r>
                    </a:p>
                  </a:txBody>
                  <a:tcPr>
                    <a:solidFill>
                      <a:srgbClr val="EFF5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2D"/>
                          </a:solidFill>
                        </a:defRPr>
                      </a:pPr>
                      <a:r>
                        <a:t>non-overlap</a:t>
                      </a:r>
                    </a:p>
                  </a:txBody>
                  <a:tcPr>
                    <a:solidFill>
                      <a:srgbClr val="EFF5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2D"/>
                          </a:solidFill>
                        </a:defRPr>
                      </a:pPr>
                      <a:r>
                        <a:t>3.0279</a:t>
                      </a:r>
                    </a:p>
                  </a:txBody>
                  <a:tcPr>
                    <a:solidFill>
                      <a:srgbClr val="EFF5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2D"/>
                          </a:solidFill>
                        </a:defRPr>
                      </a:pPr>
                      <a:r>
                        <a:t>0.572</a:t>
                      </a:r>
                    </a:p>
                  </a:txBody>
                  <a:tcPr>
                    <a:solidFill>
                      <a:srgbClr val="EFF5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3246120"/>
            <a:ext cx="5349240" cy="2331720"/>
          </a:xfrm>
          <a:prstGeom prst="roundRect">
            <a:avLst/>
          </a:prstGeom>
          <a:solidFill>
            <a:srgbClr val="EFF5FC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410712"/>
            <a:ext cx="4892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69B0"/>
                </a:solidFill>
              </a:defRPr>
            </a:pPr>
            <a:r>
              <a:t>1000-track 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840480"/>
            <a:ext cx="4892040" cy="16184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Fixed 10-second stride windows</a:t>
            </a:r>
          </a:p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Filtered 2,587 inactive clips</a:t>
            </a:r>
          </a:p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Warm-started from 550 best checkpoint</a:t>
            </a:r>
          </a:p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Best checkpoint: epoch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3246120"/>
            <a:ext cx="4480560" cy="2331720"/>
          </a:xfrm>
          <a:prstGeom prst="roundRect">
            <a:avLst/>
          </a:prstGeom>
          <a:solidFill>
            <a:srgbClr val="E6F7EE"/>
          </a:solidFill>
          <a:ln>
            <a:solidFill>
              <a:srgbClr val="2E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03720" y="3611880"/>
            <a:ext cx="384048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2E7D5A"/>
                </a:solidFill>
              </a:defRPr>
            </a:pPr>
            <a:r>
              <a:t>Validation loss improved by ~12.3%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D50"/>
          </a:solidFill>
          <a:ln>
            <a:solidFill>
              <a:srgbClr val="142D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60196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FFFFFF"/>
                </a:solidFill>
              </a:defRPr>
            </a:pPr>
            <a:r>
              <a:t>StemGen reproduction | audio-token bass stem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601968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FFFFFF"/>
                </a:solidFill>
              </a:defRPr>
            </a:pPr>
            <a:r>
              <a:t>3/4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42D50"/>
                </a:solidFill>
              </a:defRPr>
            </a:pPr>
            <a:r>
              <a:t>Findings and Next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325880"/>
            <a:ext cx="5349240" cy="4480560"/>
          </a:xfrm>
          <a:prstGeom prst="roundRect">
            <a:avLst/>
          </a:prstGeom>
          <a:solidFill>
            <a:srgbClr val="EFF5FC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90472"/>
            <a:ext cx="4892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69B0"/>
                </a:solidFill>
              </a:defRPr>
            </a:pPr>
            <a:r>
              <a:t>What worked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892040" cy="3767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Output is no longer pure noise</a:t>
            </a:r>
          </a:p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Partial-mask reconstruction shows audible structure</a:t>
            </a:r>
          </a:p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Larger track coverage + less overlap improved metrics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25880"/>
            <a:ext cx="5257800" cy="2057400"/>
          </a:xfrm>
          <a:prstGeom prst="roundRect">
            <a:avLst/>
          </a:prstGeom>
          <a:solidFill>
            <a:srgbClr val="FCF2E8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490472"/>
            <a:ext cx="4800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69B0"/>
                </a:solidFill>
              </a:defRPr>
            </a:pPr>
            <a:r>
              <a:t>Main limitation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920240"/>
            <a:ext cx="4800600" cy="1344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Full 100% mask generation is still unstable</a:t>
            </a:r>
          </a:p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Model learns reconstruction better than full context-to-stem synthesis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703320"/>
            <a:ext cx="5257800" cy="2103120"/>
          </a:xfrm>
          <a:prstGeom prst="roundRect">
            <a:avLst/>
          </a:prstGeom>
          <a:solidFill>
            <a:srgbClr val="EEF7F1"/>
          </a:solidFill>
          <a:ln>
            <a:solidFill>
              <a:srgbClr val="CD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3867911"/>
            <a:ext cx="4800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69B0"/>
                </a:solidFill>
              </a:defRPr>
            </a:pPr>
            <a:r>
              <a:t>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297680"/>
            <a:ext cx="4800600" cy="1389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Improve full-mask decoding and mask schedule</a:t>
            </a:r>
          </a:p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Add classifier-free guidance / condition dropout</a:t>
            </a:r>
          </a:p>
          <a:p>
            <a:pPr>
              <a:spcAft>
                <a:spcPts val="400"/>
              </a:spcAft>
              <a:defRPr sz="1500">
                <a:solidFill>
                  <a:srgbClr val="1C222D"/>
                </a:solidFill>
              </a:defRPr>
            </a:pPr>
            <a:r>
              <a:t>Standardize audio + spectrogram diagnostics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D50"/>
          </a:solidFill>
          <a:ln>
            <a:solidFill>
              <a:srgbClr val="142D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601968"/>
            <a:ext cx="7315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FFFFFF"/>
                </a:solidFill>
              </a:defRPr>
            </a:pPr>
            <a:r>
              <a:t>StemGen reproduction | audio-token bass stem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601968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FFFFFF"/>
                </a:solidFill>
              </a:defRPr>
            </a:pPr>
            <a:r>
              <a:t>4/4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